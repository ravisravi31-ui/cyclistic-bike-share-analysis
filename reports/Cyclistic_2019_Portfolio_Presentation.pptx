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Trips</c:v>
                </c:pt>
              </c:strCache>
            </c:strRef>
          </c:tx>
          <c:spPr>
            <a:solidFill>
              <a:srgbClr val="18a6a6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880.637</c:v>
                </c:pt>
                <c:pt idx="1">
                  <c:v>2937.367</c:v>
                </c:pt>
              </c:numCache>
            </c:numRef>
          </c:val>
        </c:ser>
        <c:gapWidth val="150"/>
        <c:overlap val="0"/>
        <c:axId val="6270748"/>
        <c:axId val="78861077"/>
      </c:barChart>
      <c:catAx>
        <c:axId val="62707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78861077"/>
        <c:crosses val="autoZero"/>
        <c:auto val="1"/>
        <c:lblAlgn val="ctr"/>
        <c:lblOffset val="100"/>
        <c:noMultiLvlLbl val="0"/>
      </c:catAx>
      <c:valAx>
        <c:axId val="78861077"/>
        <c:scaling>
          <c:orientation val="minMax"/>
          <c:min val="0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1000" strike="noStrike" u="none">
                    <a:solidFill>
                      <a:srgbClr val="000000"/>
                    </a:solidFill>
                    <a:uFillTx/>
                    <a:latin typeface="Arial"/>
                  </a:rPr>
                  <a:t>Rides (000s)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627074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f2a93b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39.43</c:v>
                </c:pt>
                <c:pt idx="1">
                  <c:v>12.93</c:v>
                </c:pt>
              </c:numCache>
            </c:numRef>
          </c:val>
        </c:ser>
        <c:gapWidth val="150"/>
        <c:overlap val="0"/>
        <c:axId val="80105159"/>
        <c:axId val="40892199"/>
      </c:barChart>
      <c:catAx>
        <c:axId val="8010515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0892199"/>
        <c:crosses val="autoZero"/>
        <c:auto val="1"/>
        <c:lblAlgn val="ctr"/>
        <c:lblOffset val="100"/>
        <c:noMultiLvlLbl val="0"/>
      </c:catAx>
      <c:valAx>
        <c:axId val="40892199"/>
        <c:scaling>
          <c:orientation val="minMax"/>
          <c:min val="0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1000" strike="noStrike" u="none">
                    <a:solidFill>
                      <a:srgbClr val="000000"/>
                    </a:solidFill>
                    <a:uFillTx/>
                    <a:latin typeface="Arial"/>
                  </a:rPr>
                  <a:t>Minutes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8010515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rgbClr val="1c9b9b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458.78</c:v>
                </c:pt>
                <c:pt idx="1">
                  <c:v>497.025</c:v>
                </c:pt>
                <c:pt idx="2">
                  <c:v>494.277</c:v>
                </c:pt>
                <c:pt idx="3">
                  <c:v>486.915</c:v>
                </c:pt>
                <c:pt idx="4">
                  <c:v>456.966</c:v>
                </c:pt>
                <c:pt idx="5">
                  <c:v>287.163</c:v>
                </c:pt>
                <c:pt idx="6">
                  <c:v>256.241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f2a93b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7"/>
                <c:pt idx="0">
                  <c:v>101.489</c:v>
                </c:pt>
                <c:pt idx="1">
                  <c:v>88.655</c:v>
                </c:pt>
                <c:pt idx="2">
                  <c:v>89.745</c:v>
                </c:pt>
                <c:pt idx="3">
                  <c:v>101.372</c:v>
                </c:pt>
                <c:pt idx="4">
                  <c:v>121.141</c:v>
                </c:pt>
                <c:pt idx="5">
                  <c:v>208.056</c:v>
                </c:pt>
                <c:pt idx="6">
                  <c:v>170.179</c:v>
                </c:pt>
              </c:numCache>
            </c:numRef>
          </c:val>
        </c:ser>
        <c:gapWidth val="150"/>
        <c:overlap val="0"/>
        <c:axId val="98158120"/>
        <c:axId val="48569943"/>
      </c:barChart>
      <c:catAx>
        <c:axId val="981581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5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8569943"/>
        <c:crosses val="autoZero"/>
        <c:auto val="1"/>
        <c:lblAlgn val="ctr"/>
        <c:lblOffset val="100"/>
        <c:noMultiLvlLbl val="0"/>
      </c:catAx>
      <c:valAx>
        <c:axId val="48569943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1000" strike="noStrike" u="none">
                    <a:solidFill>
                      <a:srgbClr val="000000"/>
                    </a:solidFill>
                    <a:uFillTx/>
                    <a:latin typeface="Arial"/>
                  </a:rPr>
                  <a:t>Rides (000s)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9815812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ptos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Rides</c:v>
                </c:pt>
              </c:strCache>
            </c:strRef>
          </c:tx>
          <c:spPr>
            <a:solidFill>
              <a:srgbClr val="18a6a6"/>
            </a:solidFill>
            <a:ln w="38160">
              <a:solidFill>
                <a:srgbClr val="18a6a6"/>
              </a:solidFill>
              <a:round/>
            </a:ln>
          </c:spPr>
          <c:marker>
            <c:symbol val="circle"/>
            <c:size val="6"/>
            <c:spPr>
              <a:solidFill>
                <a:srgbClr val="18a6a6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leaderLines>
              <c:spPr>
                <a:ln w="3816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2"/>
                <c:pt idx="0">
                  <c:v>103.272</c:v>
                </c:pt>
                <c:pt idx="1">
                  <c:v>96.186</c:v>
                </c:pt>
                <c:pt idx="2">
                  <c:v>165.611</c:v>
                </c:pt>
                <c:pt idx="3">
                  <c:v>265.31</c:v>
                </c:pt>
                <c:pt idx="4">
                  <c:v>367.458</c:v>
                </c:pt>
                <c:pt idx="5">
                  <c:v>475.395</c:v>
                </c:pt>
                <c:pt idx="6">
                  <c:v>557.315</c:v>
                </c:pt>
                <c:pt idx="7">
                  <c:v>590.184</c:v>
                </c:pt>
                <c:pt idx="8">
                  <c:v>493.219</c:v>
                </c:pt>
                <c:pt idx="9">
                  <c:v>371.786</c:v>
                </c:pt>
                <c:pt idx="10">
                  <c:v>177.176</c:v>
                </c:pt>
                <c:pt idx="11">
                  <c:v>155.092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97876034"/>
        <c:axId val="24113491"/>
      </c:lineChart>
      <c:catAx>
        <c:axId val="9787603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5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4113491"/>
        <c:crosses val="autoZero"/>
        <c:auto val="1"/>
        <c:lblAlgn val="ctr"/>
        <c:lblOffset val="100"/>
        <c:noMultiLvlLbl val="0"/>
      </c:catAx>
      <c:valAx>
        <c:axId val="24113491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1000" strike="noStrike" u="none">
                    <a:solidFill>
                      <a:srgbClr val="000000"/>
                    </a:solidFill>
                    <a:uFillTx/>
                    <a:latin typeface="Arial"/>
                  </a:rPr>
                  <a:t>Rides (000s)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85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9787603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Rides</c:v>
                </c:pt>
              </c:strCache>
            </c:strRef>
          </c:tx>
          <c:spPr>
            <a:solidFill>
              <a:srgbClr val="16324f"/>
            </a:solidFill>
            <a:ln w="38160">
              <a:solidFill>
                <a:srgbClr val="16324f"/>
              </a:solidFill>
              <a:round/>
            </a:ln>
          </c:spPr>
          <c:marker>
            <c:symbol val="circle"/>
            <c:size val="6"/>
            <c:spPr>
              <a:solidFill>
                <a:srgbClr val="16324f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leaderLines>
              <c:spPr>
                <a:ln w="3816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4"/>
                <c:pt idx="0">
                  <c:v>24.078</c:v>
                </c:pt>
                <c:pt idx="1">
                  <c:v>14.417</c:v>
                </c:pt>
                <c:pt idx="2">
                  <c:v>8.664</c:v>
                </c:pt>
                <c:pt idx="3">
                  <c:v>5.611</c:v>
                </c:pt>
                <c:pt idx="4">
                  <c:v>7.789</c:v>
                </c:pt>
                <c:pt idx="5">
                  <c:v>35.77</c:v>
                </c:pt>
                <c:pt idx="6">
                  <c:v>108.232</c:v>
                </c:pt>
                <c:pt idx="7">
                  <c:v>237.708</c:v>
                </c:pt>
                <c:pt idx="8">
                  <c:v>305.78</c:v>
                </c:pt>
                <c:pt idx="9">
                  <c:v>163.833</c:v>
                </c:pt>
                <c:pt idx="10">
                  <c:v>145.464</c:v>
                </c:pt>
                <c:pt idx="11">
                  <c:v>179.966</c:v>
                </c:pt>
                <c:pt idx="12">
                  <c:v>206.267</c:v>
                </c:pt>
                <c:pt idx="13">
                  <c:v>207.125</c:v>
                </c:pt>
                <c:pt idx="14">
                  <c:v>206.385</c:v>
                </c:pt>
                <c:pt idx="15">
                  <c:v>243.44</c:v>
                </c:pt>
                <c:pt idx="16">
                  <c:v>375.778</c:v>
                </c:pt>
                <c:pt idx="17">
                  <c:v>475.154</c:v>
                </c:pt>
                <c:pt idx="18">
                  <c:v>315.253</c:v>
                </c:pt>
                <c:pt idx="19">
                  <c:v>208.76</c:v>
                </c:pt>
                <c:pt idx="20">
                  <c:v>134.16</c:v>
                </c:pt>
                <c:pt idx="21">
                  <c:v>96.193</c:v>
                </c:pt>
                <c:pt idx="22">
                  <c:v>69.701</c:v>
                </c:pt>
                <c:pt idx="23">
                  <c:v>42.476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55016985"/>
        <c:axId val="45322482"/>
      </c:lineChart>
      <c:catAx>
        <c:axId val="5501698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8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5322482"/>
        <c:crosses val="autoZero"/>
        <c:auto val="1"/>
        <c:lblAlgn val="ctr"/>
        <c:lblOffset val="100"/>
        <c:noMultiLvlLbl val="0"/>
      </c:catAx>
      <c:valAx>
        <c:axId val="45322482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1000" strike="noStrike" u="none">
                    <a:solidFill>
                      <a:srgbClr val="000000"/>
                    </a:solidFill>
                    <a:uFillTx/>
                    <a:latin typeface="Arial"/>
                  </a:rPr>
                  <a:t>Rides (000s)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8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5501698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Rides</c:v>
                </c:pt>
              </c:strCache>
            </c:strRef>
          </c:tx>
          <c:spPr>
            <a:solidFill>
              <a:srgbClr val="18a6a6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0–10</c:v>
                </c:pt>
                <c:pt idx="1">
                  <c:v>10–20</c:v>
                </c:pt>
                <c:pt idx="2">
                  <c:v>20–30</c:v>
                </c:pt>
                <c:pt idx="3">
                  <c:v>30–60</c:v>
                </c:pt>
                <c:pt idx="4">
                  <c:v>60–120</c:v>
                </c:pt>
                <c:pt idx="5">
                  <c:v>120+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1603.566</c:v>
                </c:pt>
                <c:pt idx="1">
                  <c:v>1165.248</c:v>
                </c:pt>
                <c:pt idx="2">
                  <c:v>519.938</c:v>
                </c:pt>
                <c:pt idx="3">
                  <c:v>371.445</c:v>
                </c:pt>
                <c:pt idx="4">
                  <c:v>115.253</c:v>
                </c:pt>
                <c:pt idx="5">
                  <c:v>40.706</c:v>
                </c:pt>
              </c:numCache>
            </c:numRef>
          </c:val>
        </c:ser>
        <c:gapWidth val="150"/>
        <c:overlap val="0"/>
        <c:axId val="77463604"/>
        <c:axId val="19521995"/>
      </c:barChart>
      <c:catAx>
        <c:axId val="7746360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19521995"/>
        <c:crosses val="autoZero"/>
        <c:auto val="1"/>
        <c:lblAlgn val="ctr"/>
        <c:lblOffset val="100"/>
        <c:noMultiLvlLbl val="0"/>
      </c:catAx>
      <c:valAx>
        <c:axId val="19521995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1000" strike="noStrike" u="none">
                    <a:solidFill>
                      <a:srgbClr val="000000"/>
                    </a:solidFill>
                    <a:uFillTx/>
                    <a:latin typeface="Arial"/>
                  </a:rPr>
                  <a:t>Rides (000s)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7746360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Rides</c:v>
                </c:pt>
              </c:strCache>
            </c:strRef>
          </c:tx>
          <c:spPr>
            <a:solidFill>
              <a:srgbClr val="18a6a6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Streeter Dr &amp; Grand Ave</c:v>
                </c:pt>
                <c:pt idx="1">
                  <c:v>Canal St &amp; Adams St</c:v>
                </c:pt>
                <c:pt idx="2">
                  <c:v>Clinton St &amp; Madison St</c:v>
                </c:pt>
                <c:pt idx="3">
                  <c:v>Lake Shore Dr &amp; Monroe St</c:v>
                </c:pt>
                <c:pt idx="4">
                  <c:v>Clinton St &amp; Washington Blvd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67.983</c:v>
                </c:pt>
                <c:pt idx="1">
                  <c:v>54.389</c:v>
                </c:pt>
                <c:pt idx="2">
                  <c:v>49.908</c:v>
                </c:pt>
                <c:pt idx="3">
                  <c:v>49.804</c:v>
                </c:pt>
                <c:pt idx="4">
                  <c:v>48.153</c:v>
                </c:pt>
              </c:numCache>
            </c:numRef>
          </c:val>
        </c:ser>
        <c:gapWidth val="150"/>
        <c:overlap val="0"/>
        <c:axId val="42880547"/>
        <c:axId val="25897596"/>
      </c:barChart>
      <c:catAx>
        <c:axId val="4288054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5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5897596"/>
        <c:crosses val="autoZero"/>
        <c:auto val="1"/>
        <c:lblAlgn val="ctr"/>
        <c:lblOffset val="100"/>
        <c:noMultiLvlLbl val="0"/>
      </c:catAx>
      <c:valAx>
        <c:axId val="25897596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1000" strike="noStrike" u="none">
                    <a:solidFill>
                      <a:srgbClr val="000000"/>
                    </a:solidFill>
                    <a:uFillTx/>
                    <a:latin typeface="Arial"/>
                  </a:rPr>
                  <a:t>Rides (000s)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85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2880547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Trips</c:v>
                </c:pt>
              </c:strCache>
            </c:strRef>
          </c:tx>
          <c:spPr>
            <a:solidFill>
              <a:srgbClr val="16324f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Lake Shore Dr &amp; Monroe → Streeter</c:v>
                </c:pt>
                <c:pt idx="1">
                  <c:v>Shedd Aquarium → Streeter</c:v>
                </c:pt>
                <c:pt idx="2">
                  <c:v>Canal &amp; Adams → Michigan &amp; Washington</c:v>
                </c:pt>
                <c:pt idx="3">
                  <c:v>Streeter → Millennium Park</c:v>
                </c:pt>
                <c:pt idx="4">
                  <c:v>Streeter → Lake Shore Dr &amp; Monroe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9.872</c:v>
                </c:pt>
                <c:pt idx="1">
                  <c:v>3.657</c:v>
                </c:pt>
                <c:pt idx="2">
                  <c:v>3.649</c:v>
                </c:pt>
                <c:pt idx="3">
                  <c:v>3.376</c:v>
                </c:pt>
                <c:pt idx="4">
                  <c:v>3.319</c:v>
                </c:pt>
              </c:numCache>
            </c:numRef>
          </c:val>
        </c:ser>
        <c:gapWidth val="150"/>
        <c:overlap val="0"/>
        <c:axId val="8406770"/>
        <c:axId val="50628963"/>
      </c:barChart>
      <c:catAx>
        <c:axId val="840677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2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50628963"/>
        <c:crosses val="autoZero"/>
        <c:auto val="1"/>
        <c:lblAlgn val="ctr"/>
        <c:lblOffset val="100"/>
        <c:noMultiLvlLbl val="0"/>
      </c:catAx>
      <c:valAx>
        <c:axId val="50628963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1000" strike="noStrike" u="none">
                    <a:solidFill>
                      <a:srgbClr val="000000"/>
                    </a:solidFill>
                    <a:uFillTx/>
                    <a:latin typeface="Arial"/>
                  </a:rPr>
                  <a:t>Trips (000s)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85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840677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7272377-8A75-497B-A353-388DFEAD612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Opening: The analysis focuses on the case study’s assigned question—how annual members and casual riders use Cyclistic differently. The project uses the full 2019 trip year so seasonality is represented.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D03159-DCC0-42A1-A801-BB143076145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Explain the ASK / PREPARE / PROCESS / ANALYZE / SHARE flow. The case study specifically asks for a clear business task, data sources, cleaning documentation, analysis summary, visualizations and three recommendations.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3F46B2-9254-45EB-806B-04E7FE520D3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Key story: Members dominate ride volume, but Casual riders have much longer average rides. Avoid causal claims; this is descriptive evidence.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E1CCD9-5027-405D-B14D-3A3C69B6980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Emphasize the contrast in weekly routine: Member demand is concentrated across weekdays; Casual demand shifts toward Saturday/Sunday. This is one of the strongest behavioral differences for marketing tests.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783CEE-7EB0-497A-9915-E7871A950DB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slide supplies the seasonality and time-of-day context. August is the peak month, July has the longest average ride, and 17:00 is the peak hour.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FD09A3-C4A4-447C-B866-236E61715BE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distribution makes the core difference tangible: most rides are short, but Casual riders have a much longer typical duration. Use this to support a leisure/experience-oriented interpretation, not as proof of motivation.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DD0E54-7A05-4ABD-B6A1-1753EB3DD6B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These are supporting, not primary, findings. The strongest location signal is the concentration of demand at a few recognizable leisure/destination stations and routes.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A62B64-80E3-42BE-8648-1D7C615FAF9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Close by tying each recommendation to a specific observed pattern and pairing it with a measurable experiment. The available data cannot prove that a specific campaign will convert Casual riders; the next dataset should include campaign exposure and membership conversion.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BD5CCA-0C70-4B4D-9BE2-027615C65B1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8a6a6"/>
          </a:solidFill>
          <a:ln w="12700">
            <a:solidFill>
              <a:srgbClr val="18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Text 1"/>
          <p:cNvSpPr/>
          <p:nvPr/>
        </p:nvSpPr>
        <p:spPr>
          <a:xfrm>
            <a:off x="502920" y="6492240"/>
            <a:ext cx="3291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79" strike="noStrike" u="none">
                <a:solidFill>
                  <a:srgbClr val="708090"/>
                </a:solidFill>
                <a:effectLst/>
                <a:uFillTx/>
                <a:latin typeface="Aptos"/>
                <a:ea typeface="Aptos"/>
              </a:rPr>
              <a:t>CYCLISTIC • 2019 CASE STUDY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6537960" y="6492240"/>
            <a:ext cx="5166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rPr>
              <a:t>Source: SQL analysis of 2019 trip data | Course Case Study 1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81412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AC8B17D-4351-4157-98ED-FD69B772145C}" type="slidenum">
              <a: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chart" Target="..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8732520" y="502920"/>
            <a:ext cx="2422800" cy="2422800"/>
          </a:xfrm>
          <a:prstGeom prst="ellipse">
            <a:avLst/>
          </a:prstGeom>
          <a:noFill/>
          <a:ln w="12700">
            <a:solidFill>
              <a:srgbClr val="d3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9299520" y="1069920"/>
            <a:ext cx="1288800" cy="1288800"/>
          </a:xfrm>
          <a:prstGeom prst="ellipse">
            <a:avLst/>
          </a:prstGeom>
          <a:noFill/>
          <a:ln w="12700">
            <a:solidFill>
              <a:srgbClr val="18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9939240" y="1709640"/>
            <a:ext cx="1143000" cy="360"/>
          </a:xfrm>
          <a:prstGeom prst="line">
            <a:avLst/>
          </a:prstGeom>
          <a:ln w="12700">
            <a:solidFill>
              <a:srgbClr val="b6c5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9939240" y="1709640"/>
            <a:ext cx="808200" cy="808200"/>
          </a:xfrm>
          <a:prstGeom prst="line">
            <a:avLst/>
          </a:prstGeom>
          <a:ln w="12700">
            <a:solidFill>
              <a:srgbClr val="b6c5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4"/>
          <p:cNvSpPr/>
          <p:nvPr/>
        </p:nvSpPr>
        <p:spPr>
          <a:xfrm>
            <a:off x="9939240" y="1709640"/>
            <a:ext cx="360" cy="1143000"/>
          </a:xfrm>
          <a:prstGeom prst="line">
            <a:avLst/>
          </a:prstGeom>
          <a:ln w="12700">
            <a:solidFill>
              <a:srgbClr val="b6c5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5"/>
          <p:cNvSpPr/>
          <p:nvPr/>
        </p:nvSpPr>
        <p:spPr>
          <a:xfrm flipH="1">
            <a:off x="9131040" y="1709640"/>
            <a:ext cx="808200" cy="808200"/>
          </a:xfrm>
          <a:prstGeom prst="line">
            <a:avLst/>
          </a:prstGeom>
          <a:ln w="12700">
            <a:solidFill>
              <a:srgbClr val="b6c5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6"/>
          <p:cNvSpPr/>
          <p:nvPr/>
        </p:nvSpPr>
        <p:spPr>
          <a:xfrm flipH="1">
            <a:off x="8796240" y="1709640"/>
            <a:ext cx="1143000" cy="360"/>
          </a:xfrm>
          <a:prstGeom prst="line">
            <a:avLst/>
          </a:prstGeom>
          <a:ln w="12700">
            <a:solidFill>
              <a:srgbClr val="b6c5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/>
          <p:cNvSpPr/>
          <p:nvPr/>
        </p:nvSpPr>
        <p:spPr>
          <a:xfrm flipH="1" flipV="1">
            <a:off x="9131040" y="901440"/>
            <a:ext cx="808200" cy="808200"/>
          </a:xfrm>
          <a:prstGeom prst="line">
            <a:avLst/>
          </a:prstGeom>
          <a:ln w="12700">
            <a:solidFill>
              <a:srgbClr val="b6c5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8"/>
          <p:cNvSpPr/>
          <p:nvPr/>
        </p:nvSpPr>
        <p:spPr>
          <a:xfrm flipV="1">
            <a:off x="9939240" y="566640"/>
            <a:ext cx="360" cy="1143000"/>
          </a:xfrm>
          <a:prstGeom prst="line">
            <a:avLst/>
          </a:prstGeom>
          <a:ln w="12700">
            <a:solidFill>
              <a:srgbClr val="b6c5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/>
          <p:cNvSpPr/>
          <p:nvPr/>
        </p:nvSpPr>
        <p:spPr>
          <a:xfrm flipV="1">
            <a:off x="9939240" y="901440"/>
            <a:ext cx="808200" cy="808200"/>
          </a:xfrm>
          <a:prstGeom prst="line">
            <a:avLst/>
          </a:prstGeom>
          <a:ln w="12700">
            <a:solidFill>
              <a:srgbClr val="b6c5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0"/>
          <p:cNvSpPr/>
          <p:nvPr/>
        </p:nvSpPr>
        <p:spPr>
          <a:xfrm>
            <a:off x="621720" y="621720"/>
            <a:ext cx="1874160" cy="310680"/>
          </a:xfrm>
          <a:prstGeom prst="roundRect">
            <a:avLst>
              <a:gd name="adj" fmla="val 23529"/>
            </a:avLst>
          </a:prstGeom>
          <a:solidFill>
            <a:srgbClr val="0f7f87"/>
          </a:solidFill>
          <a:ln w="12700">
            <a:solidFill>
              <a:srgbClr val="0f7f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731520" y="685800"/>
            <a:ext cx="1654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4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SQL → INSIGHT → ACTION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621720" y="1234440"/>
            <a:ext cx="722340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700" strike="noStrike" u="none">
                <a:solidFill>
                  <a:srgbClr val="16324f"/>
                </a:solidFill>
                <a:effectLst/>
                <a:uFillTx/>
                <a:latin typeface="Aptos Display"/>
                <a:ea typeface="Aptos Display"/>
              </a:rPr>
              <a:t>Cyclistic 2019</a:t>
            </a:r>
            <a:endParaRPr b="0" lang="en-US" sz="3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700" strike="noStrike" u="none">
                <a:solidFill>
                  <a:srgbClr val="16324f"/>
                </a:solidFill>
                <a:effectLst/>
                <a:uFillTx/>
                <a:latin typeface="Aptos Display"/>
                <a:ea typeface="Aptos Display"/>
              </a:rPr>
              <a:t>Bike-Share Analysis</a:t>
            </a:r>
            <a:endParaRPr b="0" lang="en-US" sz="3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3"/>
          <p:cNvSpPr/>
          <p:nvPr/>
        </p:nvSpPr>
        <p:spPr>
          <a:xfrm>
            <a:off x="658440" y="2724840"/>
            <a:ext cx="6857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How do annual members and casual riders use Cyclistic bikes differently?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4"/>
          <p:cNvSpPr/>
          <p:nvPr/>
        </p:nvSpPr>
        <p:spPr>
          <a:xfrm>
            <a:off x="658440" y="3675960"/>
            <a:ext cx="6126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f7f87"/>
                </a:solidFill>
                <a:effectLst/>
                <a:uFillTx/>
                <a:latin typeface="Aptos"/>
              </a:rPr>
              <a:t>Full-year 2019 scope • 3.8M trips • MySQL + Excel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5"/>
          <p:cNvSpPr/>
          <p:nvPr/>
        </p:nvSpPr>
        <p:spPr>
          <a:xfrm>
            <a:off x="658080" y="4206240"/>
            <a:ext cx="5852160" cy="360"/>
          </a:xfrm>
          <a:prstGeom prst="line">
            <a:avLst/>
          </a:prstGeom>
          <a:ln w="12700">
            <a:solidFill>
              <a:srgbClr val="d1dc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6"/>
          <p:cNvSpPr/>
          <p:nvPr/>
        </p:nvSpPr>
        <p:spPr>
          <a:xfrm>
            <a:off x="658440" y="441648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Case-study objective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7"/>
          <p:cNvSpPr/>
          <p:nvPr/>
        </p:nvSpPr>
        <p:spPr>
          <a:xfrm>
            <a:off x="658440" y="4709160"/>
            <a:ext cx="6674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Understand distinct usage patterns and translate them into testable membership-conversion actions.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sldNum" idx="5"/>
          </p:nvPr>
        </p:nvSpPr>
        <p:spPr>
          <a:xfrm>
            <a:off x="1181412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3BDEF8F-F7A8-42A2-B4E6-FA022A4C7DE8}" type="slidenum">
              <a: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548640" y="41148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6324f"/>
                </a:solidFill>
                <a:effectLst/>
                <a:uFillTx/>
                <a:latin typeface="Aptos Display"/>
                <a:ea typeface="Aptos Display"/>
              </a:rPr>
              <a:t>Business task &amp; analytical approach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567000" y="896040"/>
            <a:ext cx="1060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The case study asks for evidence that can support membership-focused marketing decisions.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594360" y="1325880"/>
            <a:ext cx="3748680" cy="4388760"/>
          </a:xfrm>
          <a:prstGeom prst="roundRect">
            <a:avLst>
              <a:gd name="adj" fmla="val 1951"/>
            </a:avLst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868680" y="166428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9" strike="noStrike" u="none">
                <a:solidFill>
                  <a:srgbClr val="b9e6e6"/>
                </a:solidFill>
                <a:effectLst/>
                <a:uFillTx/>
                <a:latin typeface="Aptos"/>
              </a:rPr>
              <a:t>BUSINESS TASK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868680" y="2057400"/>
            <a:ext cx="29714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How do Members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and Casual riders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use Cyclistic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bikes differently?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868680" y="406908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b9c7d4"/>
                </a:solidFill>
                <a:effectLst/>
                <a:uFillTx/>
                <a:latin typeface="Aptos"/>
              </a:rPr>
              <a:t>Primary stakeholder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868680" y="432504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Marketing leadership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868680" y="480060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b9c7d4"/>
                </a:solidFill>
                <a:effectLst/>
                <a:uFillTx/>
                <a:latin typeface="Aptos"/>
              </a:rPr>
              <a:t>Desired outcome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868680" y="505656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Identify behavior differences → design conversion tests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9"/>
          <p:cNvSpPr/>
          <p:nvPr/>
        </p:nvSpPr>
        <p:spPr>
          <a:xfrm>
            <a:off x="4800600" y="1380600"/>
            <a:ext cx="411120" cy="411120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4800600" y="1458360"/>
            <a:ext cx="411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5376600" y="134424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Prepare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6400800" y="1334880"/>
            <a:ext cx="489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2019 trip data loaded to MySQL; station data kept as reference.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3"/>
          <p:cNvSpPr/>
          <p:nvPr/>
        </p:nvSpPr>
        <p:spPr>
          <a:xfrm>
            <a:off x="5010840" y="1792080"/>
            <a:ext cx="360" cy="576000"/>
          </a:xfrm>
          <a:prstGeom prst="line">
            <a:avLst/>
          </a:prstGeom>
          <a:ln w="12700">
            <a:solidFill>
              <a:srgbClr val="cfd9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4"/>
          <p:cNvSpPr/>
          <p:nvPr/>
        </p:nvSpPr>
        <p:spPr>
          <a:xfrm>
            <a:off x="4800600" y="2231280"/>
            <a:ext cx="411120" cy="411120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5"/>
          <p:cNvSpPr/>
          <p:nvPr/>
        </p:nvSpPr>
        <p:spPr>
          <a:xfrm>
            <a:off x="4800600" y="2309040"/>
            <a:ext cx="411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6"/>
          <p:cNvSpPr/>
          <p:nvPr/>
        </p:nvSpPr>
        <p:spPr>
          <a:xfrm>
            <a:off x="5376600" y="219456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Process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7"/>
          <p:cNvSpPr/>
          <p:nvPr/>
        </p:nvSpPr>
        <p:spPr>
          <a:xfrm>
            <a:off x="6400800" y="2185560"/>
            <a:ext cx="489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Standardized customer type, parsed timestamps, derived day/hour/month/quarter/age.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8"/>
          <p:cNvSpPr/>
          <p:nvPr/>
        </p:nvSpPr>
        <p:spPr>
          <a:xfrm>
            <a:off x="5010840" y="2642400"/>
            <a:ext cx="360" cy="576000"/>
          </a:xfrm>
          <a:prstGeom prst="line">
            <a:avLst/>
          </a:prstGeom>
          <a:ln w="12700">
            <a:solidFill>
              <a:srgbClr val="cfd9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9"/>
          <p:cNvSpPr/>
          <p:nvPr/>
        </p:nvSpPr>
        <p:spPr>
          <a:xfrm>
            <a:off x="4800600" y="3081600"/>
            <a:ext cx="411120" cy="411120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0"/>
          <p:cNvSpPr/>
          <p:nvPr/>
        </p:nvSpPr>
        <p:spPr>
          <a:xfrm>
            <a:off x="4800600" y="3159360"/>
            <a:ext cx="411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1"/>
          <p:cNvSpPr/>
          <p:nvPr/>
        </p:nvSpPr>
        <p:spPr>
          <a:xfrm>
            <a:off x="5376600" y="304488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Clean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2"/>
          <p:cNvSpPr/>
          <p:nvPr/>
        </p:nvSpPr>
        <p:spPr>
          <a:xfrm>
            <a:off x="6400800" y="3035880"/>
            <a:ext cx="489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1,848 rides &gt;24h excluded from ride-length metrics; missing/invalid birth years set to NULL.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3"/>
          <p:cNvSpPr/>
          <p:nvPr/>
        </p:nvSpPr>
        <p:spPr>
          <a:xfrm>
            <a:off x="5010840" y="3492720"/>
            <a:ext cx="360" cy="576360"/>
          </a:xfrm>
          <a:prstGeom prst="line">
            <a:avLst/>
          </a:prstGeom>
          <a:ln w="12700">
            <a:solidFill>
              <a:srgbClr val="cfd9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4"/>
          <p:cNvSpPr/>
          <p:nvPr/>
        </p:nvSpPr>
        <p:spPr>
          <a:xfrm>
            <a:off x="4800600" y="3931920"/>
            <a:ext cx="411120" cy="411120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5"/>
          <p:cNvSpPr/>
          <p:nvPr/>
        </p:nvSpPr>
        <p:spPr>
          <a:xfrm>
            <a:off x="4800600" y="4009680"/>
            <a:ext cx="411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6"/>
          <p:cNvSpPr/>
          <p:nvPr/>
        </p:nvSpPr>
        <p:spPr>
          <a:xfrm>
            <a:off x="5376600" y="389520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Analyze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7"/>
          <p:cNvSpPr/>
          <p:nvPr/>
        </p:nvSpPr>
        <p:spPr>
          <a:xfrm>
            <a:off x="6400800" y="3886200"/>
            <a:ext cx="489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Compared volume, duration, timing, seasonality, stations, routes and demographics.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8"/>
          <p:cNvSpPr/>
          <p:nvPr/>
        </p:nvSpPr>
        <p:spPr>
          <a:xfrm>
            <a:off x="5010840" y="4343400"/>
            <a:ext cx="360" cy="576000"/>
          </a:xfrm>
          <a:prstGeom prst="line">
            <a:avLst/>
          </a:prstGeom>
          <a:ln w="12700">
            <a:solidFill>
              <a:srgbClr val="cfd9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9"/>
          <p:cNvSpPr/>
          <p:nvPr/>
        </p:nvSpPr>
        <p:spPr>
          <a:xfrm>
            <a:off x="4800600" y="4782240"/>
            <a:ext cx="411120" cy="411120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0"/>
          <p:cNvSpPr/>
          <p:nvPr/>
        </p:nvSpPr>
        <p:spPr>
          <a:xfrm>
            <a:off x="4800600" y="4860000"/>
            <a:ext cx="411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5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1"/>
          <p:cNvSpPr/>
          <p:nvPr/>
        </p:nvSpPr>
        <p:spPr>
          <a:xfrm>
            <a:off x="5376600" y="474588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Share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2"/>
          <p:cNvSpPr/>
          <p:nvPr/>
        </p:nvSpPr>
        <p:spPr>
          <a:xfrm>
            <a:off x="6400800" y="4736520"/>
            <a:ext cx="489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Saved compact SQL summary tables for Excel charts and report visuals.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3"/>
          <p:cNvSpPr/>
          <p:nvPr/>
        </p:nvSpPr>
        <p:spPr>
          <a:xfrm>
            <a:off x="567000" y="6144840"/>
            <a:ext cx="10881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780" strike="noStrike" u="none">
                <a:solidFill>
                  <a:srgbClr val="85919d"/>
                </a:solidFill>
                <a:effectLst/>
                <a:uFillTx/>
                <a:latin typeface="Aptos"/>
              </a:rPr>
              <a:t>Case-study framing and required deliverables follow the provided Cyclistic course case study.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sldNum" idx="6"/>
          </p:nvPr>
        </p:nvSpPr>
        <p:spPr>
          <a:xfrm>
            <a:off x="1181412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15E2EE0-7C60-4372-A51C-D7617D869975}" type="slidenum">
              <a: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48640" y="41148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6324f"/>
                </a:solidFill>
                <a:effectLst/>
                <a:uFillTx/>
                <a:latin typeface="Aptos Display"/>
                <a:ea typeface="Aptos Display"/>
              </a:rPr>
              <a:t>The two customer groups show distinct behavior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567000" y="896040"/>
            <a:ext cx="1060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Members generate most trips; Casual riders take substantially longer rides.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594360" y="1298520"/>
            <a:ext cx="233136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594360" y="1298520"/>
            <a:ext cx="82080" cy="1142640"/>
          </a:xfrm>
          <a:prstGeom prst="rect">
            <a:avLst/>
          </a:prstGeom>
          <a:solidFill>
            <a:srgbClr val="18a6a6"/>
          </a:solidFill>
          <a:ln w="12700">
            <a:solidFill>
              <a:srgbClr val="18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795600" y="14630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3.82M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795600" y="196596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2019 trips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3108960" y="1298520"/>
            <a:ext cx="233136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3108960" y="1298520"/>
            <a:ext cx="82080" cy="1142640"/>
          </a:xfrm>
          <a:prstGeom prst="rect">
            <a:avLst/>
          </a:prstGeom>
          <a:solidFill>
            <a:srgbClr val="1c9b9b"/>
          </a:solidFill>
          <a:ln w="12700">
            <a:solidFill>
              <a:srgbClr val="1c9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3310200" y="14630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76.9%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3310200" y="196596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Member share of trips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0"/>
          <p:cNvSpPr/>
          <p:nvPr/>
        </p:nvSpPr>
        <p:spPr>
          <a:xfrm>
            <a:off x="5623560" y="1298520"/>
            <a:ext cx="233136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5623560" y="1298520"/>
            <a:ext cx="82080" cy="114264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5824800" y="14630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39.43 min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5824800" y="196596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Casual avg. ride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4"/>
          <p:cNvSpPr/>
          <p:nvPr/>
        </p:nvSpPr>
        <p:spPr>
          <a:xfrm>
            <a:off x="8138160" y="1298520"/>
            <a:ext cx="233136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5"/>
          <p:cNvSpPr/>
          <p:nvPr/>
        </p:nvSpPr>
        <p:spPr>
          <a:xfrm>
            <a:off x="8138160" y="1298520"/>
            <a:ext cx="82080" cy="1142640"/>
          </a:xfrm>
          <a:prstGeom prst="rect">
            <a:avLst/>
          </a:prstGeom>
          <a:solidFill>
            <a:srgbClr val="1c9b9b"/>
          </a:solidFill>
          <a:ln w="12700">
            <a:solidFill>
              <a:srgbClr val="1c9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8339400" y="14630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12.93 min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7"/>
          <p:cNvSpPr/>
          <p:nvPr/>
        </p:nvSpPr>
        <p:spPr>
          <a:xfrm>
            <a:off x="8339400" y="196596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Member avg. ride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8"/>
          <p:cNvSpPr/>
          <p:nvPr/>
        </p:nvSpPr>
        <p:spPr>
          <a:xfrm>
            <a:off x="658440" y="26974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Ride volume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5" name="Chart 0"/>
          <p:cNvGraphicFramePr/>
          <p:nvPr/>
        </p:nvGraphicFramePr>
        <p:xfrm>
          <a:off x="621720" y="2980800"/>
          <a:ext cx="5166000" cy="242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6" name="Text 19"/>
          <p:cNvSpPr/>
          <p:nvPr/>
        </p:nvSpPr>
        <p:spPr>
          <a:xfrm>
            <a:off x="6217920" y="269748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Average ride length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7" name="Chart 1"/>
          <p:cNvGraphicFramePr/>
          <p:nvPr/>
        </p:nvGraphicFramePr>
        <p:xfrm>
          <a:off x="6181200" y="2980800"/>
          <a:ext cx="5166000" cy="242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8" name="Text 20"/>
          <p:cNvSpPr/>
          <p:nvPr/>
        </p:nvSpPr>
        <p:spPr>
          <a:xfrm>
            <a:off x="658440" y="5632560"/>
            <a:ext cx="10606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0f7f87"/>
                </a:solidFill>
                <a:effectLst/>
                <a:uFillTx/>
                <a:latin typeface="Aptos"/>
              </a:rPr>
              <a:t>The case-study question is answered most clearly by comparing both frequency and ride duration.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1"/>
          <p:cNvSpPr/>
          <p:nvPr/>
        </p:nvSpPr>
        <p:spPr>
          <a:xfrm>
            <a:off x="567000" y="6144840"/>
            <a:ext cx="10881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780" strike="noStrike" u="none">
                <a:solidFill>
                  <a:srgbClr val="85919d"/>
                </a:solidFill>
                <a:effectLst/>
                <a:uFillTx/>
                <a:latin typeface="Aptos"/>
              </a:rPr>
              <a:t>Ride share uses all 3,818,004 trips. Average ride length uses 3,816,156 trips with valid duration (rides &gt;24h excluded from that metric).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sldNum" idx="7"/>
          </p:nvPr>
        </p:nvSpPr>
        <p:spPr>
          <a:xfrm>
            <a:off x="1181412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31C0363-29CE-47C2-AFF2-F8D2CDE5AB95}" type="slidenum">
              <a: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548640" y="41148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6324f"/>
                </a:solidFill>
                <a:effectLst/>
                <a:uFillTx/>
                <a:latin typeface="Aptos Display"/>
                <a:ea typeface="Aptos Display"/>
              </a:rPr>
              <a:t>Weekly behavior separates the groups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567000" y="896040"/>
            <a:ext cx="1060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Members are heavily weekday-oriented; Casual rides are more concentrated on weekends.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3" name="Chart 0"/>
          <p:cNvGraphicFramePr/>
          <p:nvPr/>
        </p:nvGraphicFramePr>
        <p:xfrm>
          <a:off x="567000" y="1417320"/>
          <a:ext cx="7086240" cy="406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4" name="Shape 2"/>
          <p:cNvSpPr/>
          <p:nvPr/>
        </p:nvSpPr>
        <p:spPr>
          <a:xfrm>
            <a:off x="7909560" y="1627560"/>
            <a:ext cx="361152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8074080" y="1792080"/>
            <a:ext cx="383760" cy="383760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8074080" y="186084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8568000" y="1774080"/>
            <a:ext cx="2788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Thursday leads total weekly volume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8568000" y="2066400"/>
            <a:ext cx="27428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588,287 rides — the highest daily total in 2019.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7"/>
          <p:cNvSpPr/>
          <p:nvPr/>
        </p:nvSpPr>
        <p:spPr>
          <a:xfrm>
            <a:off x="7909560" y="2907720"/>
            <a:ext cx="361152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8"/>
          <p:cNvSpPr/>
          <p:nvPr/>
        </p:nvSpPr>
        <p:spPr>
          <a:xfrm>
            <a:off x="8074080" y="3072240"/>
            <a:ext cx="383760" cy="383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8074080" y="314100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8568000" y="3054240"/>
            <a:ext cx="2788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Casual weekend behavior is more prominent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8568000" y="3346560"/>
            <a:ext cx="27428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Weekend Casual rides are much closer to weekday volume than they are for Members.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2"/>
          <p:cNvSpPr/>
          <p:nvPr/>
        </p:nvSpPr>
        <p:spPr>
          <a:xfrm>
            <a:off x="7909560" y="4187880"/>
            <a:ext cx="361152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3"/>
          <p:cNvSpPr/>
          <p:nvPr/>
        </p:nvSpPr>
        <p:spPr>
          <a:xfrm>
            <a:off x="8074080" y="4352400"/>
            <a:ext cx="383760" cy="38376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4"/>
          <p:cNvSpPr/>
          <p:nvPr/>
        </p:nvSpPr>
        <p:spPr>
          <a:xfrm>
            <a:off x="8074080" y="442116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5"/>
          <p:cNvSpPr/>
          <p:nvPr/>
        </p:nvSpPr>
        <p:spPr>
          <a:xfrm>
            <a:off x="8568000" y="4334400"/>
            <a:ext cx="2788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Ride duration rises on weekends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6"/>
          <p:cNvSpPr/>
          <p:nvPr/>
        </p:nvSpPr>
        <p:spPr>
          <a:xfrm>
            <a:off x="8568000" y="4626720"/>
            <a:ext cx="27428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Average ride length increases for both groups on weekends.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7"/>
          <p:cNvSpPr/>
          <p:nvPr/>
        </p:nvSpPr>
        <p:spPr>
          <a:xfrm>
            <a:off x="676800" y="565092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Average duration (valid rides)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8"/>
          <p:cNvSpPr/>
          <p:nvPr/>
        </p:nvSpPr>
        <p:spPr>
          <a:xfrm>
            <a:off x="2633400" y="562356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f2a93b"/>
                </a:solidFill>
                <a:effectLst/>
                <a:uFillTx/>
                <a:latin typeface="Aptos"/>
              </a:rPr>
              <a:t>Casual: 37.90 → 41.45 min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9"/>
          <p:cNvSpPr/>
          <p:nvPr/>
        </p:nvSpPr>
        <p:spPr>
          <a:xfrm>
            <a:off x="4709160" y="5623560"/>
            <a:ext cx="233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c9b9b"/>
                </a:solidFill>
                <a:effectLst/>
                <a:uFillTx/>
                <a:latin typeface="Aptos"/>
              </a:rPr>
              <a:t>Member: 12.60 → 14.35 min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0"/>
          <p:cNvSpPr/>
          <p:nvPr/>
        </p:nvSpPr>
        <p:spPr>
          <a:xfrm>
            <a:off x="567000" y="6144840"/>
            <a:ext cx="10881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780" strike="noStrike" u="none">
                <a:solidFill>
                  <a:srgbClr val="85919d"/>
                </a:solidFill>
                <a:effectLst/>
                <a:uFillTx/>
                <a:latin typeface="Aptos"/>
              </a:rPr>
              <a:t>Ride counts use all trips by day. Weekend duration figures use records with valid ride length.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sldNum" idx="8"/>
          </p:nvPr>
        </p:nvSpPr>
        <p:spPr>
          <a:xfrm>
            <a:off x="1181412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BEACB51-E9E9-4A9F-A8CE-4428EB83E13B}" type="slidenum">
              <a: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548640" y="41148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6324f"/>
                </a:solidFill>
                <a:effectLst/>
                <a:uFillTx/>
                <a:latin typeface="Aptos Display"/>
                <a:ea typeface="Aptos Display"/>
              </a:rPr>
              <a:t>Demand follows the calendar and the clock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567000" y="896040"/>
            <a:ext cx="1060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Seasonality and an evening peak create clear windows for targeted messaging and capacity planning.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621720" y="12985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Monthly ride volume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7" name="Chart 0"/>
          <p:cNvGraphicFramePr/>
          <p:nvPr/>
        </p:nvGraphicFramePr>
        <p:xfrm>
          <a:off x="548640" y="1618560"/>
          <a:ext cx="6811920" cy="214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8" name="Text 3"/>
          <p:cNvSpPr/>
          <p:nvPr/>
        </p:nvSpPr>
        <p:spPr>
          <a:xfrm>
            <a:off x="621720" y="388620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Hourly ride volume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9" name="Chart 1"/>
          <p:cNvGraphicFramePr/>
          <p:nvPr/>
        </p:nvGraphicFramePr>
        <p:xfrm>
          <a:off x="548640" y="4187880"/>
          <a:ext cx="6811920" cy="1828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0" name="Shape 4"/>
          <p:cNvSpPr/>
          <p:nvPr/>
        </p:nvSpPr>
        <p:spPr>
          <a:xfrm>
            <a:off x="7699320" y="1444680"/>
            <a:ext cx="379440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5"/>
          <p:cNvSpPr/>
          <p:nvPr/>
        </p:nvSpPr>
        <p:spPr>
          <a:xfrm>
            <a:off x="7863840" y="1609200"/>
            <a:ext cx="383760" cy="383760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7863840" y="167796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7"/>
          <p:cNvSpPr/>
          <p:nvPr/>
        </p:nvSpPr>
        <p:spPr>
          <a:xfrm>
            <a:off x="8357760" y="1591200"/>
            <a:ext cx="2971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August is the busiest month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8"/>
          <p:cNvSpPr/>
          <p:nvPr/>
        </p:nvSpPr>
        <p:spPr>
          <a:xfrm>
            <a:off x="8357760" y="1883520"/>
            <a:ext cx="2925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590,184 rides — about 6× January volume.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9"/>
          <p:cNvSpPr/>
          <p:nvPr/>
        </p:nvSpPr>
        <p:spPr>
          <a:xfrm>
            <a:off x="7699320" y="2688480"/>
            <a:ext cx="379440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0"/>
          <p:cNvSpPr/>
          <p:nvPr/>
        </p:nvSpPr>
        <p:spPr>
          <a:xfrm>
            <a:off x="7863840" y="2853000"/>
            <a:ext cx="383760" cy="383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7863840" y="292140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8357760" y="2834640"/>
            <a:ext cx="2971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July has the longest average ride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3"/>
          <p:cNvSpPr/>
          <p:nvPr/>
        </p:nvSpPr>
        <p:spPr>
          <a:xfrm>
            <a:off x="8357760" y="3127320"/>
            <a:ext cx="2925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22.62 minutes, compared with 11.72 minutes in February.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4"/>
          <p:cNvSpPr/>
          <p:nvPr/>
        </p:nvSpPr>
        <p:spPr>
          <a:xfrm>
            <a:off x="7699320" y="3931920"/>
            <a:ext cx="379440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5"/>
          <p:cNvSpPr/>
          <p:nvPr/>
        </p:nvSpPr>
        <p:spPr>
          <a:xfrm>
            <a:off x="7863840" y="4096440"/>
            <a:ext cx="383760" cy="38376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6"/>
          <p:cNvSpPr/>
          <p:nvPr/>
        </p:nvSpPr>
        <p:spPr>
          <a:xfrm>
            <a:off x="7863840" y="416520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7"/>
          <p:cNvSpPr/>
          <p:nvPr/>
        </p:nvSpPr>
        <p:spPr>
          <a:xfrm>
            <a:off x="8357760" y="4078080"/>
            <a:ext cx="2971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5 PM is the peak hour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8"/>
          <p:cNvSpPr/>
          <p:nvPr/>
        </p:nvSpPr>
        <p:spPr>
          <a:xfrm>
            <a:off x="8357760" y="4370760"/>
            <a:ext cx="2925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475,154 rides, the largest hourly total in the year.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9"/>
          <p:cNvSpPr/>
          <p:nvPr/>
        </p:nvSpPr>
        <p:spPr>
          <a:xfrm>
            <a:off x="7699320" y="53035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The annual pattern rises into the summer, then tapers through fall and winter.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0"/>
          <p:cNvSpPr/>
          <p:nvPr/>
        </p:nvSpPr>
        <p:spPr>
          <a:xfrm>
            <a:off x="567000" y="6144840"/>
            <a:ext cx="10881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780" strike="noStrike" u="none">
                <a:solidFill>
                  <a:srgbClr val="85919d"/>
                </a:solidFill>
                <a:effectLst/>
                <a:uFillTx/>
                <a:latin typeface="Aptos"/>
              </a:rPr>
              <a:t>Monthly and hourly totals use all 3,818,004 trips.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sldNum" idx="9"/>
          </p:nvPr>
        </p:nvSpPr>
        <p:spPr>
          <a:xfrm>
            <a:off x="1181412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1EC1ECD-8C47-4E39-A0DE-5B3751C2B91A}" type="slidenum">
              <a: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548640" y="41148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6324f"/>
                </a:solidFill>
                <a:effectLst/>
                <a:uFillTx/>
                <a:latin typeface="Aptos Display"/>
                <a:ea typeface="Aptos Display"/>
              </a:rPr>
              <a:t>Most rides are short; Casual rides are consistently longer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567000" y="896040"/>
            <a:ext cx="1060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Duration distribution gives context that a single average cannot.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0" name="Chart 0"/>
          <p:cNvGraphicFramePr/>
          <p:nvPr/>
        </p:nvGraphicFramePr>
        <p:xfrm>
          <a:off x="594360" y="1417320"/>
          <a:ext cx="6629040" cy="416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1" name="Shape 2"/>
          <p:cNvSpPr/>
          <p:nvPr/>
        </p:nvSpPr>
        <p:spPr>
          <a:xfrm>
            <a:off x="7635240" y="1481400"/>
            <a:ext cx="173700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7635240" y="1481400"/>
            <a:ext cx="82080" cy="1142640"/>
          </a:xfrm>
          <a:prstGeom prst="rect">
            <a:avLst/>
          </a:prstGeom>
          <a:solidFill>
            <a:srgbClr val="18a6a6"/>
          </a:solidFill>
          <a:ln w="12700">
            <a:solidFill>
              <a:srgbClr val="18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7836480" y="164592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72.6%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7836480" y="214884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under 20 min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6"/>
          <p:cNvSpPr/>
          <p:nvPr/>
        </p:nvSpPr>
        <p:spPr>
          <a:xfrm>
            <a:off x="9491400" y="1481400"/>
            <a:ext cx="173700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7"/>
          <p:cNvSpPr/>
          <p:nvPr/>
        </p:nvSpPr>
        <p:spPr>
          <a:xfrm>
            <a:off x="9491400" y="1481400"/>
            <a:ext cx="82080" cy="11426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9692640" y="164592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86.2%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9692640" y="214884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under 30 min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0"/>
          <p:cNvSpPr/>
          <p:nvPr/>
        </p:nvSpPr>
        <p:spPr>
          <a:xfrm>
            <a:off x="7635240" y="2880360"/>
            <a:ext cx="359316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1"/>
          <p:cNvSpPr/>
          <p:nvPr/>
        </p:nvSpPr>
        <p:spPr>
          <a:xfrm>
            <a:off x="7799760" y="3044880"/>
            <a:ext cx="383760" cy="383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2"/>
          <p:cNvSpPr/>
          <p:nvPr/>
        </p:nvSpPr>
        <p:spPr>
          <a:xfrm>
            <a:off x="7799760" y="311364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3"/>
          <p:cNvSpPr/>
          <p:nvPr/>
        </p:nvSpPr>
        <p:spPr>
          <a:xfrm>
            <a:off x="8293680" y="3026520"/>
            <a:ext cx="2770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Casual rides average 39.43 min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4"/>
          <p:cNvSpPr/>
          <p:nvPr/>
        </p:nvSpPr>
        <p:spPr>
          <a:xfrm>
            <a:off x="8293680" y="3319200"/>
            <a:ext cx="2724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More than 3× the Member average of 12.93 min.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5"/>
          <p:cNvSpPr/>
          <p:nvPr/>
        </p:nvSpPr>
        <p:spPr>
          <a:xfrm>
            <a:off x="7635240" y="4187880"/>
            <a:ext cx="359316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6"/>
          <p:cNvSpPr/>
          <p:nvPr/>
        </p:nvSpPr>
        <p:spPr>
          <a:xfrm>
            <a:off x="7799760" y="4352400"/>
            <a:ext cx="383760" cy="38376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7"/>
          <p:cNvSpPr/>
          <p:nvPr/>
        </p:nvSpPr>
        <p:spPr>
          <a:xfrm>
            <a:off x="7799760" y="442116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8"/>
          <p:cNvSpPr/>
          <p:nvPr/>
        </p:nvSpPr>
        <p:spPr>
          <a:xfrm>
            <a:off x="8293680" y="4334400"/>
            <a:ext cx="2770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Weekend duration rises for both groups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9"/>
          <p:cNvSpPr/>
          <p:nvPr/>
        </p:nvSpPr>
        <p:spPr>
          <a:xfrm>
            <a:off x="8293680" y="4626720"/>
            <a:ext cx="2724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Casual: 37.90 → 41.45 min. Member: 12.60 → 14.35 min.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0"/>
          <p:cNvSpPr/>
          <p:nvPr/>
        </p:nvSpPr>
        <p:spPr>
          <a:xfrm>
            <a:off x="567000" y="6144840"/>
            <a:ext cx="10881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780" strike="noStrike" u="none">
                <a:solidFill>
                  <a:srgbClr val="85919d"/>
                </a:solidFill>
                <a:effectLst/>
                <a:uFillTx/>
                <a:latin typeface="Aptos"/>
              </a:rPr>
              <a:t>Distribution covers 3,816,156 rides with valid duration; rides &gt;24h are excluded from ride-length metrics.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sldNum" idx="10"/>
          </p:nvPr>
        </p:nvSpPr>
        <p:spPr>
          <a:xfrm>
            <a:off x="1181412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73160E8-9655-45E7-81DC-E788B041F10D}" type="slidenum">
              <a: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548640" y="41148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6324f"/>
                </a:solidFill>
                <a:effectLst/>
                <a:uFillTx/>
                <a:latin typeface="Aptos Display"/>
                <a:ea typeface="Aptos Display"/>
              </a:rPr>
              <a:t>Demand is concentrated at recognizable places and routes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567000" y="896040"/>
            <a:ext cx="1060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Station and route patterns can guide where to test conversion messaging.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640080" y="129852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Top starting stations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4" name="Chart 0"/>
          <p:cNvGraphicFramePr/>
          <p:nvPr/>
        </p:nvGraphicFramePr>
        <p:xfrm>
          <a:off x="594360" y="1618560"/>
          <a:ext cx="5257440" cy="416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5" name="Text 3"/>
          <p:cNvSpPr/>
          <p:nvPr/>
        </p:nvSpPr>
        <p:spPr>
          <a:xfrm>
            <a:off x="6172200" y="129852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Top station-to-station routes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6" name="Chart 1"/>
          <p:cNvGraphicFramePr/>
          <p:nvPr/>
        </p:nvGraphicFramePr>
        <p:xfrm>
          <a:off x="6144840" y="1618560"/>
          <a:ext cx="5348880" cy="416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7" name="Text 4"/>
          <p:cNvSpPr/>
          <p:nvPr/>
        </p:nvSpPr>
        <p:spPr>
          <a:xfrm>
            <a:off x="658440" y="573336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0f7f87"/>
                </a:solidFill>
                <a:effectLst/>
                <a:uFillTx/>
                <a:latin typeface="Aptos"/>
              </a:rPr>
              <a:t>Streeter Dr &amp; Grand Ave is #1 for both departures (67,983) and arrivals (81,723).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8183880" y="573336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Top route: Lake Shore Dr &amp; Monroe → Streeter (9,872 trips).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567000" y="6144840"/>
            <a:ext cx="10881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780" strike="noStrike" u="none">
                <a:solidFill>
                  <a:srgbClr val="85919d"/>
                </a:solidFill>
                <a:effectLst/>
                <a:uFillTx/>
                <a:latin typeface="Aptos"/>
              </a:rPr>
              <a:t>Station analysis excludes same-station trips from the Top Routes view.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sldNum" idx="11"/>
          </p:nvPr>
        </p:nvSpPr>
        <p:spPr>
          <a:xfrm>
            <a:off x="1181412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5FBFDA-D9FB-425F-B299-079DDB52462D}" type="slidenum">
              <a: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548640" y="41148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6324f"/>
                </a:solidFill>
                <a:effectLst/>
                <a:uFillTx/>
                <a:latin typeface="Aptos Display"/>
                <a:ea typeface="Aptos Display"/>
              </a:rPr>
              <a:t>From observed behavior to testable actions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567000" y="896040"/>
            <a:ext cx="1060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Recommendations are framed as experiments because the trip data describes behavior, not conversion causes.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640080" y="1417320"/>
            <a:ext cx="365724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804600" y="1581840"/>
            <a:ext cx="383760" cy="383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804600" y="165060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1298520" y="156348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Focus conversion offers on Casual-heavy occasions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1298520" y="1856160"/>
            <a:ext cx="27885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Test weekend and warm-season membership trials or targeted promotions, where Casual rides are more prominent and longer.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7"/>
          <p:cNvSpPr/>
          <p:nvPr/>
        </p:nvSpPr>
        <p:spPr>
          <a:xfrm>
            <a:off x="640080" y="2926080"/>
            <a:ext cx="365724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8"/>
          <p:cNvSpPr/>
          <p:nvPr/>
        </p:nvSpPr>
        <p:spPr>
          <a:xfrm>
            <a:off x="804600" y="3090600"/>
            <a:ext cx="383760" cy="383760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804600" y="315936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1298520" y="307224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Test location-led messaging at high-demand destinations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1298520" y="3364920"/>
            <a:ext cx="27885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Use high-traffic stations and routes—especially Streeter Dr &amp; Grand Ave and adjacent routes—as test locations for membership messaging.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2"/>
          <p:cNvSpPr/>
          <p:nvPr/>
        </p:nvSpPr>
        <p:spPr>
          <a:xfrm>
            <a:off x="640080" y="4434840"/>
            <a:ext cx="365724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3"/>
          <p:cNvSpPr/>
          <p:nvPr/>
        </p:nvSpPr>
        <p:spPr>
          <a:xfrm>
            <a:off x="804600" y="4599360"/>
            <a:ext cx="383760" cy="38376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804600" y="46681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1298520" y="458100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Time digital outreach around peak demand windows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6"/>
          <p:cNvSpPr/>
          <p:nvPr/>
        </p:nvSpPr>
        <p:spPr>
          <a:xfrm>
            <a:off x="1298520" y="4873680"/>
            <a:ext cx="27885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Test late-afternoon/5 PM messaging and summer campaigns; measure click-to-membership conversion rather than assuming lift.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7"/>
          <p:cNvSpPr/>
          <p:nvPr/>
        </p:nvSpPr>
        <p:spPr>
          <a:xfrm>
            <a:off x="4663440" y="1417320"/>
            <a:ext cx="6811920" cy="434304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8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8"/>
          <p:cNvSpPr/>
          <p:nvPr/>
        </p:nvSpPr>
        <p:spPr>
          <a:xfrm>
            <a:off x="4956120" y="169164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What should Cyclistic measure next?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9"/>
          <p:cNvSpPr/>
          <p:nvPr/>
        </p:nvSpPr>
        <p:spPr>
          <a:xfrm>
            <a:off x="4983480" y="2267640"/>
            <a:ext cx="228240" cy="228240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0"/>
          <p:cNvSpPr/>
          <p:nvPr/>
        </p:nvSpPr>
        <p:spPr>
          <a:xfrm>
            <a:off x="5394960" y="2240280"/>
            <a:ext cx="1508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Conversion rate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1"/>
          <p:cNvSpPr/>
          <p:nvPr/>
        </p:nvSpPr>
        <p:spPr>
          <a:xfrm>
            <a:off x="6629400" y="223128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Casual → annual membership by campaign / location / timing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2"/>
          <p:cNvSpPr/>
          <p:nvPr/>
        </p:nvSpPr>
        <p:spPr>
          <a:xfrm>
            <a:off x="4983480" y="3072240"/>
            <a:ext cx="228240" cy="22824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3"/>
          <p:cNvSpPr/>
          <p:nvPr/>
        </p:nvSpPr>
        <p:spPr>
          <a:xfrm>
            <a:off x="5394960" y="3044880"/>
            <a:ext cx="1508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Offer response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4"/>
          <p:cNvSpPr/>
          <p:nvPr/>
        </p:nvSpPr>
        <p:spPr>
          <a:xfrm>
            <a:off x="6629400" y="303588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Clicks, redemptions, trial starts, membership purchases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5"/>
          <p:cNvSpPr/>
          <p:nvPr/>
        </p:nvSpPr>
        <p:spPr>
          <a:xfrm>
            <a:off x="4983480" y="3877200"/>
            <a:ext cx="228240" cy="22824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6"/>
          <p:cNvSpPr/>
          <p:nvPr/>
        </p:nvSpPr>
        <p:spPr>
          <a:xfrm>
            <a:off x="5394960" y="3849480"/>
            <a:ext cx="1508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Economics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7"/>
          <p:cNvSpPr/>
          <p:nvPr/>
        </p:nvSpPr>
        <p:spPr>
          <a:xfrm>
            <a:off x="6629400" y="384048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Cost per converted member and incremental lifetime value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8"/>
          <p:cNvSpPr/>
          <p:nvPr/>
        </p:nvSpPr>
        <p:spPr>
          <a:xfrm>
            <a:off x="4983480" y="4681800"/>
            <a:ext cx="228240" cy="22824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9"/>
          <p:cNvSpPr/>
          <p:nvPr/>
        </p:nvSpPr>
        <p:spPr>
          <a:xfrm>
            <a:off x="5394960" y="4654440"/>
            <a:ext cx="1508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16324f"/>
                </a:solidFill>
                <a:effectLst/>
                <a:uFillTx/>
                <a:latin typeface="Aptos"/>
              </a:rPr>
              <a:t>Retention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0"/>
          <p:cNvSpPr/>
          <p:nvPr/>
        </p:nvSpPr>
        <p:spPr>
          <a:xfrm>
            <a:off x="6629400" y="464508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90-day and 12-month retention of converted riders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1"/>
          <p:cNvSpPr/>
          <p:nvPr/>
        </p:nvSpPr>
        <p:spPr>
          <a:xfrm>
            <a:off x="4983480" y="5321520"/>
            <a:ext cx="6035040" cy="360"/>
          </a:xfrm>
          <a:prstGeom prst="line">
            <a:avLst/>
          </a:prstGeom>
          <a:ln w="12700">
            <a:solidFill>
              <a:srgbClr val="d4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2"/>
          <p:cNvSpPr/>
          <p:nvPr/>
        </p:nvSpPr>
        <p:spPr>
          <a:xfrm>
            <a:off x="4983480" y="5504760"/>
            <a:ext cx="123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c84c4c"/>
                </a:solidFill>
                <a:effectLst/>
                <a:uFillTx/>
                <a:latin typeface="Aptos"/>
              </a:rPr>
              <a:t>Key limitation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3"/>
          <p:cNvSpPr/>
          <p:nvPr/>
        </p:nvSpPr>
        <p:spPr>
          <a:xfrm>
            <a:off x="5989320" y="5468040"/>
            <a:ext cx="4800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627386"/>
                </a:solidFill>
                <a:effectLst/>
                <a:uFillTx/>
                <a:latin typeface="Aptos"/>
              </a:rPr>
              <a:t>No campaign, pricing, membership-conversion or rider-level purchase data was available, so these are hypotheses to test—not causal conclusions.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sldNum" idx="12"/>
          </p:nvPr>
        </p:nvSpPr>
        <p:spPr>
          <a:xfrm>
            <a:off x="1181412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2BB601A-94EB-4625-B14D-1A3802CF3098}" type="slidenum">
              <a:rPr b="0" lang="en-US" sz="800" strike="noStrike" u="none">
                <a:solidFill>
                  <a:srgbClr val="8a96a3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2026-09-29T09:20:28Z</dcterms:created>
  <dc:creator>OpenAI</dc:creator>
  <dc:description/>
  <dc:language>en-US</dc:language>
  <cp:lastModifiedBy>OpenAI</cp:lastModifiedBy>
  <dcterms:modified xsi:type="dcterms:W3CDTF">2026-09-29T09:20:28Z</dcterms:modified>
  <cp:revision>1</cp:revision>
  <dc:subject>Cyclistic 2019 bike-share case study</dc:subject>
  <dc:title>Cyclistic 2019 Bike-Share Analysis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